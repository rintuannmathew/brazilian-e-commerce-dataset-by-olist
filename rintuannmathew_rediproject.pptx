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64" r:id="rId6"/>
    <p:sldId id="261" r:id="rId7"/>
    <p:sldId id="262" r:id="rId8"/>
    <p:sldId id="263" r:id="rId9"/>
    <p:sldId id="266" r:id="rId10"/>
    <p:sldId id="260" r:id="rId11"/>
  </p:sldIdLst>
  <p:sldSz cx="9144000" cy="5143500" type="screen16x9"/>
  <p:notesSz cx="6858000" cy="9144000"/>
  <p:embeddedFontLst>
    <p:embeddedFont>
      <p:font typeface="Assistant" pitchFamily="2" charset="-79"/>
      <p:regular r:id="rId13"/>
      <p:bold r:id="rId14"/>
    </p:embeddedFont>
    <p:embeddedFont>
      <p:font typeface="Roboto Mono" panose="00000009000000000000" pitchFamily="49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63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9828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Google Shape;51;p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55" name="Google Shape;55;p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7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3" name="Google Shape;123;p20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24" name="Google Shape;124;p20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0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27" name="Google Shape;127;p20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21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subTitle" idx="1"/>
          </p:nvPr>
        </p:nvSpPr>
        <p:spPr>
          <a:xfrm>
            <a:off x="142625" y="1535250"/>
            <a:ext cx="64008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90" b="1" dirty="0">
                <a:solidFill>
                  <a:srgbClr val="76A5AF"/>
                </a:solidFill>
                <a:latin typeface="Arial"/>
                <a:ea typeface="Arial"/>
                <a:cs typeface="Arial"/>
                <a:sym typeface="Arial"/>
              </a:rPr>
              <a:t>DATA ANALYTICS PROJECT</a:t>
            </a:r>
            <a:r>
              <a:rPr lang="en" sz="2490" b="1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49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90"/>
              <a:buNone/>
            </a:pPr>
            <a:endParaRPr sz="249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29" y="3024490"/>
            <a:ext cx="748807" cy="78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100975" y="2496872"/>
            <a:ext cx="7380300" cy="13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 b="1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Sales and Product Analysis on Brazilian E Commerce Dataset</a:t>
            </a:r>
            <a:endParaRPr sz="2300" b="1" dirty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endParaRPr sz="2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42624" y="4031274"/>
            <a:ext cx="6500771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6D9EEB"/>
                </a:solidFill>
              </a:rPr>
              <a:t>R</a:t>
            </a:r>
            <a:r>
              <a:rPr lang="de-DE" sz="1800" b="1" dirty="0">
                <a:solidFill>
                  <a:srgbClr val="6D9EEB"/>
                </a:solidFill>
              </a:rPr>
              <a:t>i</a:t>
            </a:r>
            <a:r>
              <a:rPr lang="en" sz="1800" b="1" dirty="0">
                <a:solidFill>
                  <a:srgbClr val="6D9EEB"/>
                </a:solidFill>
              </a:rPr>
              <a:t>ntu Ann Mathew                                Data Source:Kaggle</a:t>
            </a:r>
            <a:endParaRPr sz="1800" b="1" dirty="0">
              <a:solidFill>
                <a:srgbClr val="6D9EEB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6D9EEB"/>
                </a:solidFill>
              </a:rPr>
              <a:t>2026                                                              </a:t>
            </a:r>
            <a:endParaRPr sz="1800" b="1" dirty="0"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832808" y="259143"/>
            <a:ext cx="2603100" cy="69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Project description</a:t>
            </a:r>
            <a:br>
              <a:rPr lang="en" sz="1390" b="0" dirty="0">
                <a:latin typeface="Arial"/>
                <a:ea typeface="Arial"/>
                <a:cs typeface="Arial"/>
                <a:sym typeface="Arial"/>
              </a:rPr>
            </a:br>
            <a:br>
              <a:rPr lang="en" sz="1390" b="0" dirty="0">
                <a:latin typeface="Arial"/>
                <a:ea typeface="Arial"/>
                <a:cs typeface="Arial"/>
                <a:sym typeface="Arial"/>
              </a:rPr>
            </a:br>
            <a:endParaRPr sz="1390" dirty="0"/>
          </a:p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 dirty="0"/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81D434F5-D7EE-D6ED-257C-0389F1A21F11}"/>
              </a:ext>
            </a:extLst>
          </p:cNvPr>
          <p:cNvSpPr txBox="1"/>
          <p:nvPr/>
        </p:nvSpPr>
        <p:spPr>
          <a:xfrm>
            <a:off x="517224" y="882570"/>
            <a:ext cx="8257283" cy="473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rgbClr val="3C78D8"/>
                </a:solidFill>
                <a:highlight>
                  <a:srgbClr val="FFFFFF"/>
                </a:highlight>
              </a:rPr>
              <a:t>       Brazilian E Commerce Dataset by Olist(2016-2018)</a:t>
            </a:r>
            <a:endParaRPr sz="18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endParaRPr lang="en"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r>
              <a:rPr lang="en" sz="1600" b="1" dirty="0">
                <a:solidFill>
                  <a:srgbClr val="3C78D8"/>
                </a:solidFill>
                <a:highlight>
                  <a:srgbClr val="FFFFFF"/>
                </a:highlight>
              </a:rPr>
              <a:t>The Olist dataset is used to analyze E-commerce sales performance,logistics efficiency, product category trends and customer order fulfillment.The analysis helps identify factors affecting freight costs, delivery success and product demand supporting data-driven business decisions.</a:t>
            </a: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dirty="0">
                <a:solidFill>
                  <a:srgbClr val="3C78D8"/>
                </a:solidFill>
                <a:highlight>
                  <a:srgbClr val="FFFFFF"/>
                </a:highlight>
              </a:rPr>
              <a:t>   </a:t>
            </a: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r>
              <a:rPr lang="en" sz="1600" b="1" dirty="0">
                <a:solidFill>
                  <a:srgbClr val="3C78D8"/>
                </a:solidFill>
                <a:highlight>
                  <a:srgbClr val="FFFFFF"/>
                </a:highlight>
              </a:rPr>
              <a:t>Project goals(Evaluate sales performance,monthly revenue,order status distribution and understand the correlation between price,freight value and product weight)</a:t>
            </a: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Char char="●"/>
            </a:pPr>
            <a:r>
              <a:rPr lang="en" sz="1600" b="1" dirty="0">
                <a:solidFill>
                  <a:srgbClr val="3C78D8"/>
                </a:solidFill>
                <a:highlight>
                  <a:srgbClr val="FFFFFF"/>
                </a:highlight>
              </a:rPr>
              <a:t>Solutions(Improve inventory and demand forecasting,focus on profitable product categories, Optimize shipping and packaging, Reduce delivery delays and cancellations.</a:t>
            </a: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127000" lvl="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</a:pPr>
            <a:endParaRPr sz="1600" b="1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69A2-F721-A23C-E279-74A7DD3D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88623"/>
            <a:ext cx="8520600" cy="795934"/>
          </a:xfrm>
        </p:spPr>
        <p:txBody>
          <a:bodyPr>
            <a:normAutofit/>
          </a:bodyPr>
          <a:lstStyle/>
          <a:p>
            <a:r>
              <a:rPr lang="de-DE" sz="2400" dirty="0"/>
              <a:t>Motivation</a:t>
            </a:r>
            <a:endParaRPr lang="en-DE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AADFB-B31A-78C5-CD1D-2A6AF95A4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E25F1-92F7-C22B-A9C6-FAFEF29FE055}"/>
              </a:ext>
            </a:extLst>
          </p:cNvPr>
          <p:cNvSpPr txBox="1"/>
          <p:nvPr/>
        </p:nvSpPr>
        <p:spPr>
          <a:xfrm>
            <a:off x="1040269" y="1495618"/>
            <a:ext cx="72744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 leverage e-commerce data to optimize sales strategies, reduce logistics costs, improve customer experience and support informed business decision-making.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To support data-driven business decisions that increase revenue and customer satisfaction.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To learn how to extract meaningful business insights from e-commerce data and use data analysis to support business decision-making.</a:t>
            </a:r>
          </a:p>
          <a:p>
            <a:endParaRPr lang="de-DE" dirty="0"/>
          </a:p>
          <a:p>
            <a:endParaRPr lang="de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247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2868150" y="124225"/>
            <a:ext cx="340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400" b="1" dirty="0">
                <a:solidFill>
                  <a:schemeClr val="dk1"/>
                </a:solidFill>
              </a:rPr>
              <a:t>Data cleaning</a:t>
            </a:r>
            <a:endParaRPr sz="1600" dirty="0"/>
          </a:p>
        </p:txBody>
      </p:sp>
      <p:sp>
        <p:nvSpPr>
          <p:cNvPr id="156" name="Google Shape;156;p23"/>
          <p:cNvSpPr txBox="1"/>
          <p:nvPr/>
        </p:nvSpPr>
        <p:spPr>
          <a:xfrm>
            <a:off x="947500" y="814400"/>
            <a:ext cx="6955200" cy="410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" dirty="0">
                <a:solidFill>
                  <a:schemeClr val="dk1"/>
                </a:solidFill>
              </a:rPr>
              <a:t>Data Importing</a:t>
            </a:r>
            <a:r>
              <a:rPr lang="en" b="1" dirty="0">
                <a:solidFill>
                  <a:schemeClr val="dk1"/>
                </a:solidFill>
              </a:rPr>
              <a:t>(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pandas.read_csv()</a:t>
            </a:r>
            <a:r>
              <a:rPr lang="en" dirty="0">
                <a:solidFill>
                  <a:schemeClr val="dk1"/>
                </a:solidFill>
              </a:rPr>
              <a:t> in Python, importing the CSV dataset)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</a:rPr>
              <a:t>Merged the order and items dataset with order_id and then merge with products dataset with product_id. Selected only the relevant columns required for the analysis and graph generation.Final dataset is checked with null values and replaced missing values in product_category_name with “unknown”. Removed rows where product_weight_g was missing.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en" dirty="0">
              <a:solidFill>
                <a:schemeClr val="dk1"/>
              </a:solidFill>
            </a:endParaRPr>
          </a:p>
          <a:p>
            <a:pPr marL="457200" indent="-317500"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dirty="0">
                <a:solidFill>
                  <a:schemeClr val="dk1"/>
                </a:solidFill>
              </a:rPr>
              <a:t>Removing </a:t>
            </a:r>
            <a:r>
              <a:rPr lang="en-US" dirty="0">
                <a:solidFill>
                  <a:schemeClr val="dk1"/>
                </a:solidFill>
              </a:rPr>
              <a:t>Duplicates(using </a:t>
            </a:r>
            <a:r>
              <a:rPr lang="en-US" dirty="0" err="1">
                <a:solidFill>
                  <a:schemeClr val="dk1"/>
                </a:solidFill>
              </a:rPr>
              <a:t>df.drop_duplicates</a:t>
            </a:r>
            <a:r>
              <a:rPr lang="en-US" dirty="0">
                <a:solidFill>
                  <a:schemeClr val="dk1"/>
                </a:solidFill>
              </a:rPr>
              <a:t>(),</a:t>
            </a:r>
            <a:r>
              <a:rPr lang="en-US" b="1" dirty="0">
                <a:solidFill>
                  <a:schemeClr val="dk1"/>
                </a:solidFill>
              </a:rPr>
              <a:t>Purpose:</a:t>
            </a:r>
            <a:r>
              <a:rPr lang="en-US" dirty="0">
                <a:solidFill>
                  <a:schemeClr val="dk1"/>
                </a:solidFill>
              </a:rPr>
              <a:t> Ensure no empty or incomplete data affects analysis)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 dirty="0">
                <a:solidFill>
                  <a:schemeClr val="dk1"/>
                </a:solidFill>
              </a:rPr>
              <a:t>Converted the order_purchase_timestamp into a datetime format.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de-DE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 dirty="0">
                <a:solidFill>
                  <a:schemeClr val="dk1"/>
                </a:solidFill>
              </a:rPr>
              <a:t>Extracted year, month, month_name and day from the order_purchase_timestamp to support time-based analysis.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de-DE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 dirty="0">
                <a:solidFill>
                  <a:schemeClr val="dk1"/>
                </a:solidFill>
              </a:rPr>
              <a:t>Verified the cleaned and transformed dataset before creating visualizations.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18327-25D5-6B84-2B85-323165D5D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82DBF-81FF-8C4E-C531-44FD7D33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8" y="-27325"/>
            <a:ext cx="6681258" cy="4927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1CECA8-A755-456D-DDBB-81F9FF7D4CF5}"/>
              </a:ext>
            </a:extLst>
          </p:cNvPr>
          <p:cNvSpPr txBox="1"/>
          <p:nvPr/>
        </p:nvSpPr>
        <p:spPr>
          <a:xfrm>
            <a:off x="6005865" y="1583300"/>
            <a:ext cx="3044829" cy="4349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Findings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Certain categories consistently generate the highest revenue like Watches &amp; gifts and Beauty &amp; Health.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Revenue tends to increase during seasonal shopping periods(e.g holidays and year-end months).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r>
              <a:rPr lang="de-DE" dirty="0"/>
              <a:t>Business Solution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Increase inventory and marketing investment for high-revenue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Plan promotional campaigns during peak revenue months</a:t>
            </a:r>
          </a:p>
          <a:p>
            <a:endParaRPr lang="de-DE" dirty="0"/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739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48D3A-B2DA-AC71-836E-6CF1D4193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93E03-13D1-F878-4C11-9068E733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91" y="110108"/>
            <a:ext cx="6156715" cy="48267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6BC5F1-4C2C-37BB-DB76-A6A9E9DDFCCA}"/>
              </a:ext>
            </a:extLst>
          </p:cNvPr>
          <p:cNvSpPr txBox="1"/>
          <p:nvPr/>
        </p:nvSpPr>
        <p:spPr>
          <a:xfrm>
            <a:off x="6418590" y="711070"/>
            <a:ext cx="272541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Findings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Freight value generally increases as product weight increases.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Heavier products tend to have fewer orders compared to lighter products.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Customers may avoid products with high shipping costs.</a:t>
            </a:r>
          </a:p>
          <a:p>
            <a:endParaRPr lang="de-DE" sz="1050" dirty="0"/>
          </a:p>
          <a:p>
            <a:r>
              <a:rPr lang="de-DE" sz="1050" dirty="0"/>
              <a:t>        </a:t>
            </a:r>
            <a:r>
              <a:rPr lang="de-DE" dirty="0"/>
              <a:t>Business Solution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 Optimize packaging to reduce shipping</a:t>
            </a:r>
          </a:p>
          <a:p>
            <a:r>
              <a:rPr lang="de-DE" sz="1050" dirty="0"/>
              <a:t>      weight.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  Negotiate better logistics rates for      heavy products.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  Offer shipping discounts or free      shipping thresholds to improve sales of bulky items.</a:t>
            </a:r>
          </a:p>
          <a:p>
            <a:r>
              <a:rPr lang="de-DE" dirty="0"/>
              <a:t>     </a:t>
            </a:r>
          </a:p>
          <a:p>
            <a:endParaRPr lang="de-DE" dirty="0"/>
          </a:p>
          <a:p>
            <a:endParaRPr lang="de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0160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33088-BFAC-51BE-5408-39640BDD1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14AA9-72DA-0E95-4E5D-2ABA655D3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7" y="50899"/>
            <a:ext cx="6245664" cy="5041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57D3A2-60FA-F66D-2C7E-7E8A513F194A}"/>
              </a:ext>
            </a:extLst>
          </p:cNvPr>
          <p:cNvSpPr txBox="1"/>
          <p:nvPr/>
        </p:nvSpPr>
        <p:spPr>
          <a:xfrm>
            <a:off x="6632068" y="1081625"/>
            <a:ext cx="2430099" cy="585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Findings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Most orders are marked as delivered, indicating good fulfillment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Categories with higher proportions of cancelled or unavaliable orders may face supply-chain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r>
              <a:rPr lang="de-DE" dirty="0"/>
              <a:t>Business Solution 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Improve inventory management for categories with many cancelled orders.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Strengthen supplier relationships to reduce unavailable products.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Monitor category-specific fulfillment KPIs regularly.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081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CDD92-0C95-B0F0-51E9-E91A9A9313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9CE2E-CA5E-379F-7B7A-CDF5CC7C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511"/>
            <a:ext cx="6356376" cy="4818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89107D-C55A-BD38-FC73-15092595A948}"/>
              </a:ext>
            </a:extLst>
          </p:cNvPr>
          <p:cNvSpPr txBox="1"/>
          <p:nvPr/>
        </p:nvSpPr>
        <p:spPr>
          <a:xfrm>
            <a:off x="6304547" y="755213"/>
            <a:ext cx="2606226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Findings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Shipping cost is mainly driven by product weight(strongest correlation 0.61)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Product price is not strongly dependant on weight(weak correlation 0.34) that means beyond weight factors like quality, brand or demand effect the product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Expensive products often have somewhat higher freight costs(moderate positive relationship 0.42)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Business Solution</a:t>
            </a:r>
          </a:p>
          <a:p>
            <a:r>
              <a:rPr lang="de-DE" dirty="0"/>
              <a:t>   </a:t>
            </a:r>
          </a:p>
          <a:p>
            <a:r>
              <a:rPr lang="de-DE" sz="1050" dirty="0"/>
              <a:t>Focus on packaging optimization,      weight-based pricing and logistics improvement to reduce shipping costs.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318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802C-57BB-AC31-73A2-DA5A8A54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                                                  Conclusion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D1B52-855A-1582-E2A6-FD0153843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r>
              <a:rPr lang="de-DE" sz="1400" dirty="0"/>
              <a:t>The analysis of the Brazilian E-commerce Dataset revealed important relationships between sales performance, logistics costs, product performance and customer behavior.</a:t>
            </a:r>
          </a:p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r>
              <a:rPr lang="de-DE" sz="1400" dirty="0"/>
              <a:t>These findings demonstrate the importance of efficient logistics management, strategic pricing and data-driven decision-making in improving profitability and customer satisfaction in e-commerce operations.</a:t>
            </a:r>
          </a:p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r>
              <a:rPr lang="de-DE" sz="1400" dirty="0"/>
              <a:t>Results indicate that timely deliveries, effective logistics management and customer-focused strategies contribute significantly to higher satisfaction and sales performance.</a:t>
            </a:r>
          </a:p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endParaRPr lang="en-DE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8242-B780-B68D-4CD2-18DA05A1C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092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1366800" y="2007000"/>
            <a:ext cx="64104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6500"/>
              <a:t>Thank you!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667</Words>
  <Application>Microsoft Office PowerPoint</Application>
  <PresentationFormat>On-screen Show (16:9)</PresentationFormat>
  <Paragraphs>120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 Mono</vt:lpstr>
      <vt:lpstr>Assistant</vt:lpstr>
      <vt:lpstr>Arial</vt:lpstr>
      <vt:lpstr>Simple Light</vt:lpstr>
      <vt:lpstr>PowerPoint Presentation</vt:lpstr>
      <vt:lpstr>Project description    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ReDI User</dc:creator>
  <cp:lastModifiedBy>ReDI User</cp:lastModifiedBy>
  <cp:revision>4</cp:revision>
  <dcterms:modified xsi:type="dcterms:W3CDTF">2026-05-31T16:28:45Z</dcterms:modified>
</cp:coreProperties>
</file>